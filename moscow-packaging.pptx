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блема" id="{940c6eda-d1e4-0a72-d669-ea1a4f4920e8}">
          <p14:sldIdLst>
            <p14:sldId id="256"/>
          </p14:sldIdLst>
        </p14:section>
        <p14:section name="Данные" id="{4ba41a6d-e194-bbbf-0e18-4e95f04a83c3}">
          <p14:sldIdLst>
            <p14:sldId id="257"/>
            <p14:sldId id="258"/>
          </p14:sldIdLst>
        </p14:section>
        <p14:section name="Решение" id="{1f6eb112-2d6d-f6f3-4b58-a71a1610664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Голосов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3E9D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6E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6E5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Вариант 1</c:v>
                  </c:pt>
                  <c:pt idx="1">
                    <c:v>Вариант 2</c:v>
                  </c:pt>
                  <c:pt idx="2">
                    <c:v>Вариант 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3E9D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DB9A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Азбука Вкуса не принимает партию в согласованной упаковке с архитектурой города. Это ставит под удар 30-дневный старт эксклюзивной продажи в декабре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Опрос 20+ экспертов из ритейла, ресторанного бизнеса, кондитеров и шоколатье.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Дегустация: 10 участников, реальные образцы, сентябрь 2026. Вариант 1 получил 6 голосов, варианты 2 и 7 по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к принятию: утвердить Вариант 1 как основную упаковку розничной линии «Москва».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E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8463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4681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Источники: опрос 20+ экспертов; дегустация 10 участников, сентябрь 2026  ·  Мостуризм, запуск «Москва»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NARROW">
    <p:bg>
      <p:bgPr>
        <a:solidFill>
          <a:srgbClr val="1E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8463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681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Источники: опрос 20+ экспертов; дегустация 10 участников, сентябрь 2026  ·  Мостуризм, запуск «Москва»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1E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681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Источники: опрос 20+ экспертов; дегустация 10 участников, сентябрь 2026  ·  Мостуризм, запуск «Москва»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"/>
          <p:cNvSpPr txBox="1"/>
          <p:nvPr/>
        </p:nvSpPr>
        <p:spPr>
          <a:xfrm>
            <a:off x="548640" y="640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ТРЕБУЕТСЯ РЕШЕНИЕ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Упаковка «Москва»: нужно менять дизайн</a:t>
            </a:r>
            <a:endParaRPr lang="en-US" sz="3800" dirty="0"/>
          </a:p>
        </p:txBody>
      </p:sp>
      <p:sp>
        <p:nvSpPr>
          <p:cNvPr id="4" name="Суть проблемы"/>
          <p:cNvSpPr txBox="1"/>
          <p:nvPr/>
        </p:nvSpPr>
        <p:spPr>
          <a:xfrm>
            <a:off x="548640" y="30175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Азбука Вкуса не берёт шоколад в упаковке с архитектурой города, «Московское чаепитие». Без нового дизайна декабрьский старт эксклюзива на 30 дней срывается.</a:t>
            </a:r>
            <a:endParaRPr lang="en-US" sz="1600" dirty="0"/>
          </a:p>
        </p:txBody>
      </p:sp>
      <p:sp>
        <p:nvSpPr>
          <p:cNvPr id="5" name="Панель упаковки"/>
          <p:cNvSpPr/>
          <p:nvPr/>
        </p:nvSpPr>
        <p:spPr>
          <a:xfrm>
            <a:off x="5760720" y="411480"/>
            <a:ext cx="2834640" cy="411480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Упаковка, Вариант 1" descr="Шоколад «Москва» с пряной малиной и нотками бородинского хлеба, 160 г, картонная упаковка с окном и шубер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265" y="594360"/>
            <a:ext cx="1937550" cy="3246120"/>
          </a:xfrm>
          <a:prstGeom prst="rect">
            <a:avLst/>
          </a:prstGeom>
        </p:spPr>
      </p:pic>
      <p:sp>
        <p:nvSpPr>
          <p:cNvPr id="7" name="Подпись к упаковке"/>
          <p:cNvSpPr txBox="1"/>
          <p:nvPr/>
        </p:nvSpPr>
        <p:spPr>
          <a:xfrm>
            <a:off x="5897880" y="3959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Вариант 1: рекомендованная упаковка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Эксперты одобрили идею и вкус, но не дизайн</a:t>
            </a:r>
            <a:endParaRPr lang="en-US" sz="3200" dirty="0"/>
          </a:p>
        </p:txBody>
      </p:sp>
      <p:sp>
        <p:nvSpPr>
          <p:cNvPr id="3" name="Число экспертов"/>
          <p:cNvSpPr txBox="1"/>
          <p:nvPr/>
        </p:nvSpPr>
        <p:spPr>
          <a:xfrm>
            <a:off x="54864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20+</a:t>
            </a:r>
            <a:endParaRPr lang="en-US" sz="7200" dirty="0"/>
          </a:p>
        </p:txBody>
      </p:sp>
      <p:sp>
        <p:nvSpPr>
          <p:cNvPr id="4" name="Кто оценивал"/>
          <p:cNvSpPr txBox="1"/>
          <p:nvPr/>
        </p:nvSpPr>
        <p:spPr>
          <a:xfrm>
            <a:off x="548640" y="2651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экспертов: ритейл, рестораторы, шеф-кондитеры, шоколатье</a:t>
            </a:r>
            <a:endParaRPr lang="en-US" sz="1600" dirty="0"/>
          </a:p>
        </p:txBody>
      </p:sp>
      <p:sp>
        <p:nvSpPr>
          <p:cNvPr id="5" name="Карточка 1"/>
          <p:cNvSpPr/>
          <p:nvPr/>
        </p:nvSpPr>
        <p:spPr>
          <a:xfrm>
            <a:off x="3383280" y="1371600"/>
            <a:ext cx="5212080" cy="950976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Номер 1"/>
          <p:cNvSpPr/>
          <p:nvPr/>
        </p:nvSpPr>
        <p:spPr>
          <a:xfrm>
            <a:off x="3611880" y="16367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Номер 1 текст"/>
          <p:cNvSpPr txBox="1"/>
          <p:nvPr/>
        </p:nvSpPr>
        <p:spPr>
          <a:xfrm>
            <a:off x="361188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Текст карточки 1"/>
          <p:cNvSpPr txBox="1"/>
          <p:nvPr/>
        </p:nvSpPr>
        <p:spPr>
          <a:xfrm>
            <a:off x="4206240" y="1444752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Идея и вкус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Одобрены единогласно, доработка не нужна.</a:t>
            </a:r>
            <a:endParaRPr lang="en-US" sz="1600" dirty="0"/>
          </a:p>
        </p:txBody>
      </p:sp>
      <p:sp>
        <p:nvSpPr>
          <p:cNvPr id="9" name="Карточка 2"/>
          <p:cNvSpPr/>
          <p:nvPr/>
        </p:nvSpPr>
        <p:spPr>
          <a:xfrm>
            <a:off x="3383280" y="2450592"/>
            <a:ext cx="5212080" cy="950976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Номер 2"/>
          <p:cNvSpPr/>
          <p:nvPr/>
        </p:nvSpPr>
        <p:spPr>
          <a:xfrm>
            <a:off x="3611880" y="27157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Номер 2 текст"/>
          <p:cNvSpPr txBox="1"/>
          <p:nvPr/>
        </p:nvSpPr>
        <p:spPr>
          <a:xfrm>
            <a:off x="36118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Текст карточки 2"/>
          <p:cNvSpPr txBox="1"/>
          <p:nvPr/>
        </p:nvSpPr>
        <p:spPr>
          <a:xfrm>
            <a:off x="4206240" y="2523744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Дизайн с архитектурой города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Ограничивает аудиторию и ставит бренд в один ряд с масс-маркетом.</a:t>
            </a:r>
            <a:endParaRPr lang="en-US" sz="1600" dirty="0"/>
          </a:p>
        </p:txBody>
      </p:sp>
      <p:sp>
        <p:nvSpPr>
          <p:cNvPr id="13" name="Карточка 3"/>
          <p:cNvSpPr/>
          <p:nvPr/>
        </p:nvSpPr>
        <p:spPr>
          <a:xfrm>
            <a:off x="3383280" y="3529584"/>
            <a:ext cx="5212080" cy="950976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Номер 3"/>
          <p:cNvSpPr/>
          <p:nvPr/>
        </p:nvSpPr>
        <p:spPr>
          <a:xfrm>
            <a:off x="3611880" y="37947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Номер 3 текст"/>
          <p:cNvSpPr txBox="1"/>
          <p:nvPr/>
        </p:nvSpPr>
        <p:spPr>
          <a:xfrm>
            <a:off x="361188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Текст карточки 3"/>
          <p:cNvSpPr txBox="1"/>
          <p:nvPr/>
        </p:nvSpPr>
        <p:spPr>
          <a:xfrm>
            <a:off x="4206240" y="3602736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Рекомендация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Турбренд «Москва» без прямой визуализации зданий: крафт, тиснение, чёткая геометрия.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Потребители тоже выбрали Вариант 1</a:t>
            </a:r>
            <a:endParaRPr lang="en-US" sz="3200" dirty="0"/>
          </a:p>
        </p:txBody>
      </p:sp>
      <p:sp>
        <p:nvSpPr>
          <p:cNvPr id="3" name="Главная цифра"/>
          <p:cNvSpPr txBox="1"/>
          <p:nvPr/>
        </p:nvSpPr>
        <p:spPr>
          <a:xfrm>
            <a:off x="54864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из 10</a:t>
            </a:r>
            <a:endParaRPr lang="en-US" sz="7200" dirty="0"/>
          </a:p>
        </p:txBody>
      </p:sp>
      <p:sp>
        <p:nvSpPr>
          <p:cNvPr id="4" name="Вывод"/>
          <p:cNvSpPr txBox="1"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участников выбрали Вариант 1. Он лидирует среди всех предложенных.</a:t>
            </a:r>
            <a:endParaRPr lang="en-US" sz="1600" dirty="0"/>
          </a:p>
        </p:txBody>
      </p:sp>
      <p:sp>
        <p:nvSpPr>
          <p:cNvPr id="5" name="Пояснение"/>
          <p:cNvSpPr txBox="1"/>
          <p:nvPr/>
        </p:nvSpPr>
        <p:spPr>
          <a:xfrm>
            <a:off x="548640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Вариант 1 воспринимается как самый «подарочный» и современный.</a:t>
            </a:r>
            <a:endParaRPr lang="en-US" sz="1400" dirty="0"/>
          </a:p>
        </p:txBody>
      </p:sp>
      <p:sp>
        <p:nvSpPr>
          <p:cNvPr id="6" name="Панель графика"/>
          <p:cNvSpPr/>
          <p:nvPr/>
        </p:nvSpPr>
        <p:spPr>
          <a:xfrm>
            <a:off x="4754880" y="1371600"/>
            <a:ext cx="3840480" cy="306324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4892040" y="1783080"/>
          <a:ext cx="3566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Заголовок графика"/>
          <p:cNvSpPr txBox="1"/>
          <p:nvPr/>
        </p:nvSpPr>
        <p:spPr>
          <a:xfrm>
            <a:off x="493776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Голосов по вариантам упаковки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Решение: утвердить Вариант 1</a:t>
            </a:r>
            <a:endParaRPr lang="en-US" sz="3200" dirty="0"/>
          </a:p>
        </p:txBody>
      </p:sp>
      <p:sp>
        <p:nvSpPr>
          <p:cNvPr id="3" name="Карточка решения"/>
          <p:cNvSpPr/>
          <p:nvPr/>
        </p:nvSpPr>
        <p:spPr>
          <a:xfrm>
            <a:off x="548640" y="1371600"/>
            <a:ext cx="484632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Текст решения"/>
          <p:cNvSpPr txBox="1"/>
          <p:nvPr/>
        </p:nvSpPr>
        <p:spPr>
          <a:xfrm>
            <a:off x="777240" y="14630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Вариант 1 становится основной упаковкой розничной линии «Москва»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Так мы снимаем возражение Азбуки Вкуса и сохраняем старт эксклюзива в декабре 2026.</a:t>
            </a:r>
            <a:endParaRPr lang="en-US" sz="1800" dirty="0"/>
          </a:p>
        </p:txBody>
      </p:sp>
      <p:sp>
        <p:nvSpPr>
          <p:cNvPr id="5" name="Карточка срока"/>
          <p:cNvSpPr/>
          <p:nvPr/>
        </p:nvSpPr>
        <p:spPr>
          <a:xfrm>
            <a:off x="548640" y="306324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Срок"/>
          <p:cNvSpPr txBox="1"/>
          <p:nvPr/>
        </p:nvSpPr>
        <p:spPr>
          <a:xfrm>
            <a:off x="777240" y="3154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 этой неделе</a:t>
            </a:r>
            <a:endParaRPr lang="en-US" sz="2800" dirty="0"/>
          </a:p>
        </p:txBody>
      </p:sp>
      <p:sp>
        <p:nvSpPr>
          <p:cNvPr id="7" name="Пояснение срока"/>
          <p:cNvSpPr txBox="1"/>
          <p:nvPr/>
        </p:nvSpPr>
        <p:spPr>
          <a:xfrm>
            <a:off x="777240" y="37033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Нужно согласование. Иначе производство не успеет к тиражу.</a:t>
            </a:r>
            <a:endParaRPr lang="en-US" sz="1400" dirty="0"/>
          </a:p>
        </p:txBody>
      </p:sp>
      <p:sp>
        <p:nvSpPr>
          <p:cNvPr id="8" name="Панель упаковки"/>
          <p:cNvSpPr/>
          <p:nvPr/>
        </p:nvSpPr>
        <p:spPr>
          <a:xfrm>
            <a:off x="5760720" y="411480"/>
            <a:ext cx="2834640" cy="411480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Упаковка, Вариант 1" descr="Шоколад «Москва» с пряной малиной и нотками бородинского хлеба, 160 г, картонная упаковка с окном и шубер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265" y="594360"/>
            <a:ext cx="1937550" cy="3246120"/>
          </a:xfrm>
          <a:prstGeom prst="rect">
            <a:avLst/>
          </a:prstGeom>
        </p:spPr>
      </p:pic>
      <p:sp>
        <p:nvSpPr>
          <p:cNvPr id="10" name="Подпись к упаковке"/>
          <p:cNvSpPr txBox="1"/>
          <p:nvPr/>
        </p:nvSpPr>
        <p:spPr>
          <a:xfrm>
            <a:off x="5897880" y="3959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Картон, окно, тиснение, шубер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160 г  ·  990 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scow Dark Chocolate">
  <a:themeElements>
    <a:clrScheme name="Moscow Dark Chocolate">
      <a:dk1>
        <a:srgbClr val="1E1210"/>
      </a:dk1>
      <a:lt1>
        <a:srgbClr val="F3E9DC"/>
      </a:lt1>
      <a:dk2>
        <a:srgbClr val="2E1D19"/>
      </a:dk2>
      <a:lt2>
        <a:srgbClr val="CDB9A0"/>
      </a:lt2>
      <a:accent1>
        <a:srgbClr val="C9A24B"/>
      </a:accent1>
      <a:accent2>
        <a:srgbClr val="B04A5F"/>
      </a:accent2>
      <a:accent3>
        <a:srgbClr val="8A6E5A"/>
      </a:accent3>
      <a:accent4>
        <a:srgbClr val="6B4A3A"/>
      </a:accent4>
      <a:accent5>
        <a:srgbClr val="E3C77F"/>
      </a:accent5>
      <a:accent6>
        <a:srgbClr val="A88B5E"/>
      </a:accent6>
      <a:hlink>
        <a:srgbClr val="C9A24B"/>
      </a:hlink>
      <a:folHlink>
        <a:srgbClr val="A88B5E"/>
      </a:folHlink>
    </a:clrScheme>
    <a:fontScheme name="Moscow Dark Chocol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Упаковка «Москва»: нужно менять дизайн</dc:title>
  <dc:subject>PptxGenJS Presentation</dc:subject>
  <dc:creator>Мостуризм</dc:creator>
  <cp:lastModifiedBy>Мостуризм</cp:lastModifiedBy>
  <cp:revision>1</cp:revision>
  <dcterms:created xsi:type="dcterms:W3CDTF">2026-10-28T11:31:59Z</dcterms:created>
  <dcterms:modified xsi:type="dcterms:W3CDTF">2026-10-28T11:31:59Z</dcterms:modified>
</cp:coreProperties>
</file>