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облема" id="{aab14445-daa4-3d4e-4cb3-b9a3db24f388}">
          <p14:sldIdLst>
            <p14:sldId id="256"/>
          </p14:sldIdLst>
        </p14:section>
        <p14:section name="Данные" id="{8af725cf-ce10-db60-ba52-508ddb19b6f2}">
          <p14:sldIdLst>
            <p14:sldId id="257"/>
            <p14:sldId id="258"/>
          </p14:sldIdLst>
        </p14:section>
        <p14:section name="Решение" id="{d664f894-be1f-3e1f-869f-1f53fd7e2335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Азбука Вкуса не принимает партию в согласованной упаковке с архитектурой города. Это ставит под удар 30-дневный старт эксклюзивной продажи в декабре 2026. На изображении: Вариант 1, рекомендованная упаковка.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Опрос 20+ экспертов из ритейла, ресторанного бизнеса, кондитеров и шоколатье.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Дегустация: 10 участников, реальные образцы, сентябрь 2026. Вариант 1 получил 6 голосов, варианты 2 и 7 по 3. Столбики на схеме состоят из плиток: одна плитка соответствует одному голосу.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к принятию: утвердить Вариант 1 как основную упаковку розничной линии «Москва».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4937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6817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Источники: опрос 20+ экспертов; дегустация 10 участников, сентябрь 2026  ·  Мостуризм, запуск «Москва»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NARROW">
    <p:bg>
      <p:bgPr>
        <a:solidFill>
          <a:srgbClr val="1B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8463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548640" y="46817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Источники: опрос 20+ экспертов; дегустация 10 участников, сентябрь 2026  ·  Мостуризм, запуск «Москва»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1B0F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548640" y="46817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Источники: опрос 20+ экспертов; дегустация 10 участников, сентябрь 2026  ·  Мостуризм, запуск «Москва»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"/>
          <p:cNvSpPr txBox="1"/>
          <p:nvPr/>
        </p:nvSpPr>
        <p:spPr>
          <a:xfrm>
            <a:off x="548640" y="640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ТРЕБУЕТСЯ РЕШЕНИЕ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515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Упаковка «Москва»: нужно менять дизайн</a:t>
            </a:r>
            <a:endParaRPr lang="en-US" sz="2800" dirty="0"/>
          </a:p>
        </p:txBody>
      </p:sp>
      <p:sp>
        <p:nvSpPr>
          <p:cNvPr id="4" name="Суть проблемы"/>
          <p:cNvSpPr txBox="1"/>
          <p:nvPr/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Азбука Вкуса не берёт шоколад в упаковке с архитектурой города, «Московское чаепитие». Без нового дизайна декабрьский старт эксклюзива на 30 дней срывается.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Эксперты одобрили идею и вкус,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но не дизайн</a:t>
            </a:r>
            <a:endParaRPr lang="en-US" sz="2200" dirty="0"/>
          </a:p>
        </p:txBody>
      </p:sp>
      <p:sp>
        <p:nvSpPr>
          <p:cNvPr id="3" name="Кто оценивал"/>
          <p:cNvSpPr txBox="1"/>
          <p:nvPr/>
        </p:nvSpPr>
        <p:spPr>
          <a:xfrm>
            <a:off x="548640" y="2697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экспертов: ритейл, рестораторы, шеф-кондитеры, шоколатье</a:t>
            </a:r>
            <a:endParaRPr lang="en-US" sz="1500" dirty="0"/>
          </a:p>
        </p:txBody>
      </p:sp>
      <p:sp>
        <p:nvSpPr>
          <p:cNvPr id="4" name="Текст карточки 1"/>
          <p:cNvSpPr txBox="1"/>
          <p:nvPr/>
        </p:nvSpPr>
        <p:spPr>
          <a:xfrm>
            <a:off x="4251960" y="142646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Идея и вкус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Одобрены единогласно, доработка не нужна.</a:t>
            </a:r>
            <a:endParaRPr lang="en-US" sz="1500" dirty="0"/>
          </a:p>
        </p:txBody>
      </p:sp>
      <p:sp>
        <p:nvSpPr>
          <p:cNvPr id="5" name="Текст карточки 2"/>
          <p:cNvSpPr txBox="1"/>
          <p:nvPr/>
        </p:nvSpPr>
        <p:spPr>
          <a:xfrm>
            <a:off x="4251960" y="2505456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Дизайн с архитектурой города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Ограничивает аудиторию и ставит бренд в один ряд с масс-маркетом.</a:t>
            </a:r>
            <a:endParaRPr lang="en-US" sz="1500" dirty="0"/>
          </a:p>
        </p:txBody>
      </p:sp>
      <p:sp>
        <p:nvSpPr>
          <p:cNvPr id="6" name="Текст карточки 3"/>
          <p:cNvSpPr txBox="1"/>
          <p:nvPr/>
        </p:nvSpPr>
        <p:spPr>
          <a:xfrm>
            <a:off x="4251960" y="3584448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Рекомендация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Турбренд «Москва» без прямой визуализации зданий: крафт, тиснение, чёткая геометрия.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Потребители тоже выбрали Вариант 1</a:t>
            </a:r>
            <a:endParaRPr lang="en-US" sz="2200" dirty="0"/>
          </a:p>
        </p:txBody>
      </p:sp>
      <p:sp>
        <p:nvSpPr>
          <p:cNvPr id="3" name="Вывод"/>
          <p:cNvSpPr txBox="1"/>
          <p:nvPr/>
        </p:nvSpPr>
        <p:spPr>
          <a:xfrm>
            <a:off x="548640" y="2697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участников выбрали Вариант 1. Он лидирует среди всех предложенных.</a:t>
            </a:r>
            <a:endParaRPr lang="en-US" sz="1600" dirty="0"/>
          </a:p>
        </p:txBody>
      </p:sp>
      <p:sp>
        <p:nvSpPr>
          <p:cNvPr id="4" name="Пояснение"/>
          <p:cNvSpPr txBox="1"/>
          <p:nvPr/>
        </p:nvSpPr>
        <p:spPr>
          <a:xfrm>
            <a:off x="548640" y="34930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Вариант 1 воспринимается как самый «подарочный» и современный.</a:t>
            </a:r>
            <a:endParaRPr lang="en-US" sz="1300" dirty="0"/>
          </a:p>
        </p:txBody>
      </p:sp>
      <p:sp>
        <p:nvSpPr>
          <p:cNvPr id="5" name="Заголовок графика"/>
          <p:cNvSpPr txBox="1"/>
          <p:nvPr/>
        </p:nvSpPr>
        <p:spPr>
          <a:xfrm>
            <a:off x="498348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Голосов по вариантам упаковки</a:t>
            </a:r>
            <a:endParaRPr lang="en-US" sz="1100" dirty="0"/>
          </a:p>
        </p:txBody>
      </p:sp>
      <p:sp>
        <p:nvSpPr>
          <p:cNvPr id="6" name="Подпись Вариант 1"/>
          <p:cNvSpPr txBox="1"/>
          <p:nvPr/>
        </p:nvSpPr>
        <p:spPr>
          <a:xfrm>
            <a:off x="516636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Вариант 1</a:t>
            </a:r>
            <a:endParaRPr lang="en-US" sz="1100" dirty="0"/>
          </a:p>
        </p:txBody>
      </p:sp>
      <p:sp>
        <p:nvSpPr>
          <p:cNvPr id="7" name="Подпись Вариант 2"/>
          <p:cNvSpPr txBox="1"/>
          <p:nvPr/>
        </p:nvSpPr>
        <p:spPr>
          <a:xfrm>
            <a:off x="617220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Вариант 2</a:t>
            </a:r>
            <a:endParaRPr lang="en-US" sz="1100" dirty="0"/>
          </a:p>
        </p:txBody>
      </p:sp>
      <p:sp>
        <p:nvSpPr>
          <p:cNvPr id="8" name="Подпись Вариант 7"/>
          <p:cNvSpPr txBox="1"/>
          <p:nvPr/>
        </p:nvSpPr>
        <p:spPr>
          <a:xfrm>
            <a:off x="7178040" y="4041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Вариант 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Решение: утвердить Вариант 1</a:t>
            </a:r>
            <a:endParaRPr lang="en-US" sz="2200" dirty="0"/>
          </a:p>
        </p:txBody>
      </p:sp>
      <p:sp>
        <p:nvSpPr>
          <p:cNvPr id="3" name="Текст решения"/>
          <p:cNvSpPr txBox="1"/>
          <p:nvPr/>
        </p:nvSpPr>
        <p:spPr>
          <a:xfrm>
            <a:off x="822960" y="1444752"/>
            <a:ext cx="42976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Вариант 1 становится основной упаковкой розничной линии «Москва»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Так мы снимаем возражение Азбуки Вкуса и сохраняем старт эксклюзива в декабре 2026.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Картон, окно, тиснение, шубер  ·  160 г  ·  990 ₽</a:t>
            </a:r>
            <a:endParaRPr lang="en-US" sz="1600" dirty="0"/>
          </a:p>
        </p:txBody>
      </p:sp>
      <p:sp>
        <p:nvSpPr>
          <p:cNvPr id="4" name="Срок"/>
          <p:cNvSpPr txBox="1"/>
          <p:nvPr/>
        </p:nvSpPr>
        <p:spPr>
          <a:xfrm>
            <a:off x="822960" y="3200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На этой неделе</a:t>
            </a:r>
            <a:endParaRPr lang="en-US" sz="2000" dirty="0"/>
          </a:p>
        </p:txBody>
      </p:sp>
      <p:sp>
        <p:nvSpPr>
          <p:cNvPr id="5" name="Пояснение срока"/>
          <p:cNvSpPr txBox="1"/>
          <p:nvPr/>
        </p:nvSpPr>
        <p:spPr>
          <a:xfrm>
            <a:off x="82296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Нужно согласование. Иначе производство не успеет к тиражу.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scow Glossy 3D">
  <a:themeElements>
    <a:clrScheme name="Moscow Glossy 3D">
      <a:dk1>
        <a:srgbClr val="1B0F0C"/>
      </a:dk1>
      <a:lt1>
        <a:srgbClr val="F7EDE1"/>
      </a:lt1>
      <a:dk2>
        <a:srgbClr val="2E1D19"/>
      </a:dk2>
      <a:lt2>
        <a:srgbClr val="D9C3AE"/>
      </a:lt2>
      <a:accent1>
        <a:srgbClr val="E0B254"/>
      </a:accent1>
      <a:accent2>
        <a:srgbClr val="D4577A"/>
      </a:accent2>
      <a:accent3>
        <a:srgbClr val="8A6E5A"/>
      </a:accent3>
      <a:accent4>
        <a:srgbClr val="6B4A3A"/>
      </a:accent4>
      <a:accent5>
        <a:srgbClr val="F0C56A"/>
      </a:accent5>
      <a:accent6>
        <a:srgbClr val="A88B5E"/>
      </a:accent6>
      <a:hlink>
        <a:srgbClr val="E0B254"/>
      </a:hlink>
      <a:folHlink>
        <a:srgbClr val="A88B5E"/>
      </a:folHlink>
    </a:clrScheme>
    <a:fontScheme name="Moscow Glossy 3D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ne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Упаковка «Москва»: нужно менять дизайн</dc:title>
  <dc:subject>PptxGenJS Presentation</dc:subject>
  <dc:creator>Мостуризм</dc:creator>
  <cp:lastModifiedBy>Мостуризм</cp:lastModifiedBy>
  <cp:revision>1</cp:revision>
  <dcterms:created xsi:type="dcterms:W3CDTF">2026-10-28T11:52:21Z</dcterms:created>
  <dcterms:modified xsi:type="dcterms:W3CDTF">2026-10-28T11:52:21Z</dcterms:modified>
</cp:coreProperties>
</file>