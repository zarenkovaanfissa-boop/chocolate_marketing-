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Проблема" id="{06dc1f82-7764-ea8c-e923-510c36e6d052}">
          <p14:sldIdLst>
            <p14:sldId id="256"/>
            <p14:sldId id="257"/>
          </p14:sldIdLst>
        </p14:section>
        <p14:section name="Данные" id="{99fe77e6-4d84-e0f4-0872-0cc19e1c25b3}">
          <p14:sldIdLst>
            <p14:sldId id="258"/>
            <p14:sldId id="259"/>
            <p14:sldId id="260"/>
          </p14:sldIdLst>
        </p14:section>
        <p14:section name="Решение" id="{3a4f2ed8-d64e-4527-5e24-02e481d825e2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Азбука Вкуса не принимает партию в согласованной упаковке. Под риском декабрьское окно эксклюзива.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Возражение ритейлера касается именно дизайна с архитектурой города.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Эксперты единогласно одобрили идею и вкус, но дизайн с архитектурой города считают ограничивающим.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Шесть из десяти участников выбрали Вариант 1. Следом идут варианты 2 и 7, по 3 голоса.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Решение к принятию: утвердить Вариант 1 как основную упаковку розничной линии «Москва».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606040"/>
            <a:ext cx="60350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LIT">
    <p:bg>
      <p:bgPr>
        <a:solidFill>
          <a:srgbClr val="EEE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600200"/>
            <a:ext cx="3749040" cy="1143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0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2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1828800"/>
            <a:ext cx="74980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4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D">
    <p:bg>
      <p:bgPr>
        <a:solidFill>
          <a:srgbClr val="2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548640"/>
            <a:ext cx="448056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8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S">
    <p:bg>
      <p:bgPr>
        <a:solidFill>
          <a:srgbClr val="2A17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411480"/>
            <a:ext cx="420624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2800" dirty="0">
                <a:solidFill>
                  <a:schemeClr val="bg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ISION">
    <p:bg>
      <p:bgPr>
        <a:solidFill>
          <a:srgbClr val="EEE6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411480"/>
            <a:ext cx="41148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3200" dirty="0">
                <a:solidFill>
                  <a:schemeClr val="tx1"/>
                </a:solidFill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Лого"/>
          <p:cNvSpPr txBox="1"/>
          <p:nvPr/>
        </p:nvSpPr>
        <p:spPr>
          <a:xfrm>
            <a:off x="41148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«МОСКВА» · ШОКОЛАД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11480" y="2606040"/>
            <a:ext cx="6035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chemeClr val="bg1"/>
                </a:solidFill>
              </a:rPr>
              <a:t>Упаковка «Москва»: нужно менять дизайн</a:t>
            </a:r>
            <a:endParaRPr lang="en-US" sz="4000" dirty="0"/>
          </a:p>
        </p:txBody>
      </p:sp>
      <p:sp>
        <p:nvSpPr>
          <p:cNvPr id="4" name="Линия"/>
          <p:cNvSpPr/>
          <p:nvPr/>
        </p:nvSpPr>
        <p:spPr>
          <a:xfrm>
            <a:off x="411480" y="4526280"/>
            <a:ext cx="8321040" cy="0"/>
          </a:xfrm>
          <a:prstGeom prst="line">
            <a:avLst/>
          </a:prstGeom>
          <a:noFill/>
          <a:ln w="9525">
            <a:solidFill>
              <a:srgbClr val="F4ECE2">
                <a:alpha val="55000"/>
              </a:srgbClr>
            </a:solidFill>
            <a:prstDash val="solid"/>
          </a:ln>
        </p:spPr>
      </p:sp>
      <p:sp>
        <p:nvSpPr>
          <p:cNvPr id="5" name="Метка слева"/>
          <p:cNvSpPr txBox="1"/>
          <p:nvPr/>
        </p:nvSpPr>
        <p:spPr>
          <a:xfrm>
            <a:off x="41148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ТРЕБУЕТСЯ РЕШЕНИЕ</a:t>
            </a:r>
            <a:endParaRPr lang="en-US" sz="900" dirty="0"/>
          </a:p>
        </p:txBody>
      </p:sp>
      <p:sp>
        <p:nvSpPr>
          <p:cNvPr id="6" name="Метка справа"/>
          <p:cNvSpPr txBox="1"/>
          <p:nvPr/>
        </p:nvSpPr>
        <p:spPr>
          <a:xfrm>
            <a:off x="5074920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СОГЛАСОВАНИЕ НА ЭТОЙ НЕДЕЛЕ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Абстракция" descr="Абстрактные шёлковые полосы в карамельных и малиновых тонах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0"/>
            <a:ext cx="4572000" cy="5143500"/>
          </a:xfrm>
          <a:prstGeom prst="rect">
            <a:avLst/>
          </a:prstGeom>
        </p:spPr>
      </p:pic>
      <p:sp>
        <p:nvSpPr>
          <p:cNvPr id="3" name="Раздел"/>
          <p:cNvSpPr txBox="1"/>
          <p:nvPr/>
        </p:nvSpPr>
        <p:spPr>
          <a:xfrm>
            <a:off x="411480" y="365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11480" y="1600200"/>
            <a:ext cx="3749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000" dirty="0">
                <a:solidFill>
                  <a:schemeClr val="tx1"/>
                </a:solidFill>
              </a:rPr>
              <a:t>Ритейлер не принял упаковку</a:t>
            </a:r>
            <a:endParaRPr lang="en-US" sz="3000" dirty="0"/>
          </a:p>
        </p:txBody>
      </p:sp>
      <p:sp>
        <p:nvSpPr>
          <p:cNvPr id="5" name="Описание"/>
          <p:cNvSpPr txBox="1"/>
          <p:nvPr/>
        </p:nvSpPr>
        <p:spPr>
          <a:xfrm>
            <a:off x="411480" y="29260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chemeClr val="accent2"/>
                </a:solidFill>
              </a:rPr>
              <a:t>Азбука Вкуса не берёт шоколад «Москва» в упаковке с архитектурой города («Московское чаепитие»). Без нового дизайна 30-дневный старт эксклюзивной продажи в декабре 2026 срывается.</a:t>
            </a:r>
            <a:endParaRPr lang="en-US" sz="1300" dirty="0"/>
          </a:p>
        </p:txBody>
      </p:sp>
      <p:sp>
        <p:nvSpPr>
          <p:cNvPr id="6" name="Плашка 1"/>
          <p:cNvSpPr/>
          <p:nvPr/>
        </p:nvSpPr>
        <p:spPr>
          <a:xfrm>
            <a:off x="4572000" y="0"/>
            <a:ext cx="2286000" cy="1965960"/>
          </a:xfrm>
          <a:prstGeom prst="rect">
            <a:avLst/>
          </a:prstGeom>
          <a:solidFill>
            <a:schemeClr val="accent5">
              <a:alpha val="82000"/>
            </a:schemeClr>
          </a:solidFill>
          <a:ln w="12700">
            <a:solidFill>
              <a:schemeClr val="accent5">
                <a:alpha val="0"/>
              </a:schemeClr>
            </a:solidFill>
            <a:prstDash val="solid"/>
          </a:ln>
        </p:spPr>
      </p:sp>
      <p:sp>
        <p:nvSpPr>
          <p:cNvPr id="7" name="Плашка 2"/>
          <p:cNvSpPr/>
          <p:nvPr/>
        </p:nvSpPr>
        <p:spPr>
          <a:xfrm>
            <a:off x="6858000" y="0"/>
            <a:ext cx="2286000" cy="1965960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Число 1"/>
          <p:cNvSpPr txBox="1"/>
          <p:nvPr/>
        </p:nvSpPr>
        <p:spPr>
          <a:xfrm>
            <a:off x="4846320" y="320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30</a:t>
            </a:r>
            <a:endParaRPr lang="en-US" sz="4000" dirty="0"/>
          </a:p>
        </p:txBody>
      </p:sp>
      <p:sp>
        <p:nvSpPr>
          <p:cNvPr id="9" name="Подпись 1"/>
          <p:cNvSpPr txBox="1"/>
          <p:nvPr/>
        </p:nvSpPr>
        <p:spPr>
          <a:xfrm>
            <a:off x="4846320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1"/>
                </a:solidFill>
              </a:rPr>
              <a:t>дней эксклюзивной продажи в Азбуке Вкуса</a:t>
            </a:r>
            <a:endParaRPr lang="en-US" sz="1000" dirty="0"/>
          </a:p>
        </p:txBody>
      </p:sp>
      <p:sp>
        <p:nvSpPr>
          <p:cNvPr id="10" name="Число 2"/>
          <p:cNvSpPr txBox="1"/>
          <p:nvPr/>
        </p:nvSpPr>
        <p:spPr>
          <a:xfrm>
            <a:off x="7132320" y="32004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2026</a:t>
            </a:r>
            <a:endParaRPr lang="en-US" sz="4000" dirty="0"/>
          </a:p>
        </p:txBody>
      </p:sp>
      <p:sp>
        <p:nvSpPr>
          <p:cNvPr id="11" name="Подпись 2"/>
          <p:cNvSpPr txBox="1"/>
          <p:nvPr/>
        </p:nvSpPr>
        <p:spPr>
          <a:xfrm>
            <a:off x="7132320" y="10972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1"/>
                </a:solidFill>
              </a:rPr>
              <a:t>декабрьский старт эксклюзива под угрозой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41148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bg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20+ ЭКСПЕРТОВ · 10 УЧАСТНИКОВ ДЕГУСТАЦИИ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11480" y="1828800"/>
            <a:ext cx="7498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400" dirty="0">
                <a:solidFill>
                  <a:schemeClr val="bg1"/>
                </a:solidFill>
              </a:rPr>
              <a:t>Что показали эксперты и потребители</a:t>
            </a:r>
            <a:endParaRPr lang="en-US" sz="4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арточка"/>
          <p:cNvSpPr/>
          <p:nvPr/>
        </p:nvSpPr>
        <p:spPr>
          <a:xfrm>
            <a:off x="274320" y="274320"/>
            <a:ext cx="8595360" cy="4594860"/>
          </a:xfrm>
          <a:prstGeom prst="roundRect">
            <a:avLst>
              <a:gd name="adj" fmla="val 119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5486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chemeClr val="tx1"/>
                </a:solidFill>
              </a:rPr>
              <a:t>Мнение 20+ экспертов</a:t>
            </a:r>
            <a:endParaRPr lang="en-US" sz="2800" dirty="0"/>
          </a:p>
        </p:txBody>
      </p:sp>
      <p:sp>
        <p:nvSpPr>
          <p:cNvPr id="4" name="Кто оценивал"/>
          <p:cNvSpPr txBox="1"/>
          <p:nvPr/>
        </p:nvSpPr>
        <p:spPr>
          <a:xfrm>
            <a:off x="594360" y="1143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Ритейл, рестораторы, шеф-кондитеры, шоколатье</a:t>
            </a:r>
            <a:endParaRPr lang="en-US" sz="1200" dirty="0"/>
          </a:p>
        </p:txBody>
      </p:sp>
      <p:pic>
        <p:nvPicPr>
          <p:cNvPr id="5" name="Упаковка за ребристым стеклом" descr="Упаковка шоколада «Москва» за ребристым стекло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548640"/>
            <a:ext cx="1828800" cy="1828800"/>
          </a:xfrm>
          <a:prstGeom prst="rect">
            <a:avLst/>
          </a:prstGeom>
        </p:spPr>
      </p:pic>
      <p:sp>
        <p:nvSpPr>
          <p:cNvPr id="6" name="Линия шкалы"/>
          <p:cNvSpPr/>
          <p:nvPr/>
        </p:nvSpPr>
        <p:spPr>
          <a:xfrm>
            <a:off x="594360" y="3017520"/>
            <a:ext cx="7955280" cy="0"/>
          </a:xfrm>
          <a:prstGeom prst="line">
            <a:avLst/>
          </a:prstGeom>
          <a:noFill/>
          <a:ln w="9525">
            <a:solidFill>
              <a:srgbClr val="2A1712">
                <a:alpha val="55000"/>
              </a:srgbClr>
            </a:solidFill>
            <a:prstDash val="solid"/>
          </a:ln>
        </p:spPr>
      </p:sp>
      <p:sp>
        <p:nvSpPr>
          <p:cNvPr id="7" name="Заголовок 1"/>
          <p:cNvSpPr txBox="1"/>
          <p:nvPr/>
        </p:nvSpPr>
        <p:spPr>
          <a:xfrm>
            <a:off x="59436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Идея и вкус</a:t>
            </a:r>
            <a:endParaRPr lang="en-US" sz="1300" dirty="0"/>
          </a:p>
        </p:txBody>
      </p:sp>
      <p:sp>
        <p:nvSpPr>
          <p:cNvPr id="8" name="Засечка 1"/>
          <p:cNvSpPr/>
          <p:nvPr/>
        </p:nvSpPr>
        <p:spPr>
          <a:xfrm>
            <a:off x="594360" y="3017520"/>
            <a:ext cx="0" cy="320040"/>
          </a:xfrm>
          <a:prstGeom prst="line">
            <a:avLst/>
          </a:prstGeom>
          <a:noFill/>
          <a:ln w="9525">
            <a:solidFill>
              <a:srgbClr val="2A1712">
                <a:alpha val="55000"/>
              </a:srgbClr>
            </a:solidFill>
            <a:prstDash val="solid"/>
          </a:ln>
        </p:spPr>
      </p:sp>
      <p:sp>
        <p:nvSpPr>
          <p:cNvPr id="9" name="Текст 1"/>
          <p:cNvSpPr txBox="1"/>
          <p:nvPr/>
        </p:nvSpPr>
        <p:spPr>
          <a:xfrm>
            <a:off x="731520" y="3154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2"/>
                </a:solidFill>
              </a:rPr>
              <a:t>Одобрены единогласно. Доработка не нужна.</a:t>
            </a:r>
            <a:endParaRPr lang="en-US" sz="1200" dirty="0"/>
          </a:p>
        </p:txBody>
      </p:sp>
      <p:sp>
        <p:nvSpPr>
          <p:cNvPr id="10" name="Заголовок 2"/>
          <p:cNvSpPr txBox="1"/>
          <p:nvPr/>
        </p:nvSpPr>
        <p:spPr>
          <a:xfrm>
            <a:off x="329184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Дизайн с архитектурой</a:t>
            </a:r>
            <a:endParaRPr lang="en-US" sz="1300" dirty="0"/>
          </a:p>
        </p:txBody>
      </p:sp>
      <p:sp>
        <p:nvSpPr>
          <p:cNvPr id="11" name="Засечка 2"/>
          <p:cNvSpPr/>
          <p:nvPr/>
        </p:nvSpPr>
        <p:spPr>
          <a:xfrm>
            <a:off x="3291840" y="3017520"/>
            <a:ext cx="0" cy="320040"/>
          </a:xfrm>
          <a:prstGeom prst="line">
            <a:avLst/>
          </a:prstGeom>
          <a:noFill/>
          <a:ln w="9525">
            <a:solidFill>
              <a:srgbClr val="2A1712">
                <a:alpha val="55000"/>
              </a:srgbClr>
            </a:solidFill>
            <a:prstDash val="solid"/>
          </a:ln>
        </p:spPr>
      </p:sp>
      <p:sp>
        <p:nvSpPr>
          <p:cNvPr id="12" name="Текст 2"/>
          <p:cNvSpPr txBox="1"/>
          <p:nvPr/>
        </p:nvSpPr>
        <p:spPr>
          <a:xfrm>
            <a:off x="3429000" y="3154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2"/>
                </a:solidFill>
              </a:rPr>
              <a:t>Ограничивает аудиторию и ставит бренд в один ряд с масс-маркетом.</a:t>
            </a:r>
            <a:endParaRPr lang="en-US" sz="1200" dirty="0"/>
          </a:p>
        </p:txBody>
      </p:sp>
      <p:sp>
        <p:nvSpPr>
          <p:cNvPr id="13" name="Заголовок 3"/>
          <p:cNvSpPr txBox="1"/>
          <p:nvPr/>
        </p:nvSpPr>
        <p:spPr>
          <a:xfrm>
            <a:off x="5989320" y="26060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Рекомендация</a:t>
            </a:r>
            <a:endParaRPr lang="en-US" sz="1300" dirty="0"/>
          </a:p>
        </p:txBody>
      </p:sp>
      <p:sp>
        <p:nvSpPr>
          <p:cNvPr id="14" name="Засечка 3"/>
          <p:cNvSpPr/>
          <p:nvPr/>
        </p:nvSpPr>
        <p:spPr>
          <a:xfrm>
            <a:off x="5989320" y="3017520"/>
            <a:ext cx="0" cy="320040"/>
          </a:xfrm>
          <a:prstGeom prst="line">
            <a:avLst/>
          </a:prstGeom>
          <a:noFill/>
          <a:ln w="9525">
            <a:solidFill>
              <a:srgbClr val="2A1712">
                <a:alpha val="55000"/>
              </a:srgbClr>
            </a:solidFill>
            <a:prstDash val="solid"/>
          </a:ln>
        </p:spPr>
      </p:sp>
      <p:sp>
        <p:nvSpPr>
          <p:cNvPr id="15" name="Текст 3"/>
          <p:cNvSpPr txBox="1"/>
          <p:nvPr/>
        </p:nvSpPr>
        <p:spPr>
          <a:xfrm>
            <a:off x="6126480" y="31546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chemeClr val="accent2"/>
                </a:solidFill>
              </a:rPr>
              <a:t>Турбренд «Москва» без прямой визуализации зданий: крафт, тиснение, чёткая геометрия.</a:t>
            </a:r>
            <a:endParaRPr lang="en-US" sz="1200" dirty="0"/>
          </a:p>
        </p:txBody>
      </p:sp>
      <p:sp>
        <p:nvSpPr>
          <p:cNvPr id="16" name="Источник"/>
          <p:cNvSpPr txBox="1"/>
          <p:nvPr/>
        </p:nvSpPr>
        <p:spPr>
          <a:xfrm>
            <a:off x="59436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150" kern="0" dirty="0">
                <a:solidFill>
                  <a:schemeClr val="accent2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ИСТОЧНИК: ОПРОС 20+ ЭКСПЕРТОВ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41148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dirty="0">
                <a:solidFill>
                  <a:schemeClr val="bg1"/>
                </a:solidFill>
              </a:rPr>
              <a:t>Что выбрали потребители</a:t>
            </a:r>
            <a:endParaRPr lang="en-US" sz="2800" dirty="0"/>
          </a:p>
        </p:txBody>
      </p:sp>
      <p:pic>
        <p:nvPicPr>
          <p:cNvPr id="3" name="Вариант 1" descr="Упаковка шоколада «Москва», Вариант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91640"/>
            <a:ext cx="2011680" cy="2651760"/>
          </a:xfrm>
          <a:prstGeom prst="rect">
            <a:avLst/>
          </a:prstGeom>
        </p:spPr>
      </p:pic>
      <p:sp>
        <p:nvSpPr>
          <p:cNvPr id="4" name="Вывод"/>
          <p:cNvSpPr txBox="1"/>
          <p:nvPr/>
        </p:nvSpPr>
        <p:spPr>
          <a:xfrm>
            <a:off x="2697480" y="169164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Вариант 1 воспринимается как самый «подарочный» и современный.</a:t>
            </a:r>
            <a:endParaRPr lang="en-US" sz="1500" dirty="0"/>
          </a:p>
        </p:txBody>
      </p:sp>
      <p:sp>
        <p:nvSpPr>
          <p:cNvPr id="5" name="Методика"/>
          <p:cNvSpPr txBox="1"/>
          <p:nvPr/>
        </p:nvSpPr>
        <p:spPr>
          <a:xfrm>
            <a:off x="269748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Дегустация: 10 участников, реальные образцы, сентябрь 2026</a:t>
            </a:r>
            <a:endParaRPr lang="en-US" sz="1000" dirty="0"/>
          </a:p>
        </p:txBody>
      </p:sp>
      <p:sp>
        <p:nvSpPr>
          <p:cNvPr id="6" name="Линия 1"/>
          <p:cNvSpPr/>
          <p:nvPr/>
        </p:nvSpPr>
        <p:spPr>
          <a:xfrm>
            <a:off x="5257800" y="914400"/>
            <a:ext cx="3474720" cy="0"/>
          </a:xfrm>
          <a:prstGeom prst="line">
            <a:avLst/>
          </a:prstGeom>
          <a:noFill/>
          <a:ln w="9525">
            <a:solidFill>
              <a:srgbClr val="F4ECE2">
                <a:alpha val="55000"/>
              </a:srgbClr>
            </a:solidFill>
            <a:prstDash val="solid"/>
          </a:ln>
        </p:spPr>
      </p:sp>
      <p:sp>
        <p:nvSpPr>
          <p:cNvPr id="7" name="Число 1"/>
          <p:cNvSpPr txBox="1"/>
          <p:nvPr/>
        </p:nvSpPr>
        <p:spPr>
          <a:xfrm>
            <a:off x="5257800" y="1051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6/10</a:t>
            </a:r>
            <a:endParaRPr lang="en-US" sz="4000" dirty="0"/>
          </a:p>
        </p:txBody>
      </p:sp>
      <p:sp>
        <p:nvSpPr>
          <p:cNvPr id="8" name="Подпись 1"/>
          <p:cNvSpPr txBox="1"/>
          <p:nvPr/>
        </p:nvSpPr>
        <p:spPr>
          <a:xfrm>
            <a:off x="7086600" y="1143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1"/>
                </a:solidFill>
              </a:rPr>
              <a:t>выбрали Вариант 1: лидер среди всех предложенных</a:t>
            </a:r>
            <a:endParaRPr lang="en-US" sz="1000" dirty="0"/>
          </a:p>
        </p:txBody>
      </p:sp>
      <p:sp>
        <p:nvSpPr>
          <p:cNvPr id="9" name="Линия 2"/>
          <p:cNvSpPr/>
          <p:nvPr/>
        </p:nvSpPr>
        <p:spPr>
          <a:xfrm>
            <a:off x="5257800" y="2103120"/>
            <a:ext cx="3474720" cy="0"/>
          </a:xfrm>
          <a:prstGeom prst="line">
            <a:avLst/>
          </a:prstGeom>
          <a:noFill/>
          <a:ln w="9525">
            <a:solidFill>
              <a:srgbClr val="F4ECE2">
                <a:alpha val="55000"/>
              </a:srgbClr>
            </a:solidFill>
            <a:prstDash val="solid"/>
          </a:ln>
        </p:spPr>
      </p:sp>
      <p:sp>
        <p:nvSpPr>
          <p:cNvPr id="10" name="Число 2"/>
          <p:cNvSpPr txBox="1"/>
          <p:nvPr/>
        </p:nvSpPr>
        <p:spPr>
          <a:xfrm>
            <a:off x="5257800" y="22402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Подпись 2"/>
          <p:cNvSpPr txBox="1"/>
          <p:nvPr/>
        </p:nvSpPr>
        <p:spPr>
          <a:xfrm>
            <a:off x="7086600" y="2331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1"/>
                </a:solidFill>
              </a:rPr>
              <a:t>голоса у Варианта 2</a:t>
            </a:r>
            <a:endParaRPr lang="en-US" sz="1000" dirty="0"/>
          </a:p>
        </p:txBody>
      </p:sp>
      <p:sp>
        <p:nvSpPr>
          <p:cNvPr id="12" name="Линия 3"/>
          <p:cNvSpPr/>
          <p:nvPr/>
        </p:nvSpPr>
        <p:spPr>
          <a:xfrm>
            <a:off x="5257800" y="3291840"/>
            <a:ext cx="3474720" cy="0"/>
          </a:xfrm>
          <a:prstGeom prst="line">
            <a:avLst/>
          </a:prstGeom>
          <a:noFill/>
          <a:ln w="9525">
            <a:solidFill>
              <a:srgbClr val="F4ECE2">
                <a:alpha val="55000"/>
              </a:srgbClr>
            </a:solidFill>
            <a:prstDash val="solid"/>
          </a:ln>
        </p:spPr>
      </p:sp>
      <p:sp>
        <p:nvSpPr>
          <p:cNvPr id="13" name="Число 3"/>
          <p:cNvSpPr txBox="1"/>
          <p:nvPr/>
        </p:nvSpPr>
        <p:spPr>
          <a:xfrm>
            <a:off x="5257800" y="3429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chemeClr val="bg1"/>
                </a:solidFill>
                <a:latin typeface="Source Serif 4 Light" pitchFamily="34" charset="0"/>
                <a:ea typeface="Source Serif 4 Light" pitchFamily="34" charset="-122"/>
                <a:cs typeface="Source Serif 4 Light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Подпись 3"/>
          <p:cNvSpPr txBox="1"/>
          <p:nvPr/>
        </p:nvSpPr>
        <p:spPr>
          <a:xfrm>
            <a:off x="7086600" y="35204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chemeClr val="accent1"/>
                </a:solidFill>
              </a:rPr>
              <a:t>голоса у Варианта 7</a:t>
            </a:r>
            <a:endParaRPr lang="en-US" sz="1000" dirty="0"/>
          </a:p>
        </p:txBody>
      </p:sp>
      <p:sp>
        <p:nvSpPr>
          <p:cNvPr id="15" name="Источник"/>
          <p:cNvSpPr txBox="1"/>
          <p:nvPr/>
        </p:nvSpPr>
        <p:spPr>
          <a:xfrm>
            <a:off x="411480" y="468172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spc="150" kern="0" dirty="0">
                <a:solidFill>
                  <a:schemeClr val="accent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ИСТОЧНИКИ: ОПРОС 20+ ЭКСПЕРТОВ; ДЕГУСТАЦИЯ 10 УЧАСТНИКОВ, СЕНТЯБРЬ 2026 · МОСТУРИЗМ, ЗАПУСК «МОСКВА»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етка"/>
          <p:cNvSpPr txBox="1"/>
          <p:nvPr/>
        </p:nvSpPr>
        <p:spPr>
          <a:xfrm>
            <a:off x="411480" y="182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accent3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РЕШЕНИЕ К ПРИНЯТИЮ</a:t>
            </a:r>
            <a:endParaRPr lang="en-US" sz="9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11480" y="411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200" dirty="0">
                <a:solidFill>
                  <a:schemeClr val="tx1"/>
                </a:solidFill>
              </a:rPr>
              <a:t>Утвердить Вариант 1</a:t>
            </a:r>
            <a:endParaRPr lang="en-US" sz="3200" dirty="0"/>
          </a:p>
        </p:txBody>
      </p:sp>
      <p:sp>
        <p:nvSpPr>
          <p:cNvPr id="4" name="Суть решения"/>
          <p:cNvSpPr txBox="1"/>
          <p:nvPr/>
        </p:nvSpPr>
        <p:spPr>
          <a:xfrm>
            <a:off x="4754880" y="45720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Вариант 1 становится основной упаковкой розничной линии «Москва». Это снимает возражение Азбуки Вкуса и сохраняет старт эксклюзива в декабре 2026.</a:t>
            </a:r>
            <a:endParaRPr lang="en-US" sz="1000" dirty="0"/>
          </a:p>
        </p:txBody>
      </p:sp>
      <p:sp>
        <p:nvSpPr>
          <p:cNvPr id="5" name="Срок"/>
          <p:cNvSpPr txBox="1"/>
          <p:nvPr/>
        </p:nvSpPr>
        <p:spPr>
          <a:xfrm>
            <a:off x="6858000" y="457200"/>
            <a:ext cx="1874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chemeClr val="accent2"/>
                </a:solidFill>
              </a:rPr>
              <a:t>Согласование нужно на этой неделе. Иначе производство не успеет к тиражу.</a:t>
            </a:r>
            <a:endParaRPr lang="en-US" sz="1000" dirty="0"/>
          </a:p>
        </p:txBody>
      </p:sp>
      <p:pic>
        <p:nvPicPr>
          <p:cNvPr id="6" name="Упаковка Вариант 1" descr="Упаковка шоколада «Москва» с пряной малиной и нотками бородинского хлеба, 160 г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783080"/>
            <a:ext cx="8321040" cy="2459736"/>
          </a:xfrm>
          <a:prstGeom prst="rect">
            <a:avLst/>
          </a:prstGeom>
        </p:spPr>
      </p:pic>
      <p:sp>
        <p:nvSpPr>
          <p:cNvPr id="7" name="Характеристики"/>
          <p:cNvSpPr txBox="1"/>
          <p:nvPr/>
        </p:nvSpPr>
        <p:spPr>
          <a:xfrm>
            <a:off x="411480" y="4526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КАРТОН · ОКНО · ТИСНЕНИЕ · ШУБЕР · 160 Г · 990 ₽</a:t>
            </a:r>
            <a:endParaRPr lang="en-US" sz="900" dirty="0"/>
          </a:p>
        </p:txBody>
      </p:sp>
      <p:sp>
        <p:nvSpPr>
          <p:cNvPr id="8" name="Окно продаж"/>
          <p:cNvSpPr txBox="1"/>
          <p:nvPr/>
        </p:nvSpPr>
        <p:spPr>
          <a:xfrm>
            <a:off x="4617720" y="45262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spc="150" kern="0" dirty="0">
                <a:solidFill>
                  <a:schemeClr val="tx1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ЭКСКЛЮЗИВ В АЗБУКЕ ВКУСА · ДЕКАБРЬ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scow Silk Editorial">
  <a:themeElements>
    <a:clrScheme name="Moscow Silk Editorial">
      <a:dk1>
        <a:srgbClr val="2A1712"/>
      </a:dk1>
      <a:lt1>
        <a:srgbClr val="F4ECE2"/>
      </a:lt1>
      <a:dk2>
        <a:srgbClr val="3A211A"/>
      </a:dk2>
      <a:lt2>
        <a:srgbClr val="EEE6DB"/>
      </a:lt2>
      <a:accent1>
        <a:srgbClr val="C9B7A6"/>
      </a:accent1>
      <a:accent2>
        <a:srgbClr val="7A6458"/>
      </a:accent2>
      <a:accent3>
        <a:srgbClr val="C23A5C"/>
      </a:accent3>
      <a:accent4>
        <a:srgbClr val="D39A5E"/>
      </a:accent4>
      <a:accent5>
        <a:srgbClr val="5A3328"/>
      </a:accent5>
      <a:accent6>
        <a:srgbClr val="8A6E5A"/>
      </a:accent6>
      <a:hlink>
        <a:srgbClr val="C23A5C"/>
      </a:hlink>
      <a:folHlink>
        <a:srgbClr val="8A6E5A"/>
      </a:folHlink>
    </a:clrScheme>
    <a:fontScheme name="Moscow Silk Editorial">
      <a:majorFont>
        <a:latin typeface="Source Serif 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Упаковка «Москва»: нужно менять дизайн</dc:title>
  <dc:subject>PptxGenJS Presentation</dc:subject>
  <dc:creator>Мостуризм</dc:creator>
  <cp:lastModifiedBy>Мостуризм</cp:lastModifiedBy>
  <cp:revision>1</cp:revision>
  <dcterms:created xsi:type="dcterms:W3CDTF">2026-10-28T12:02:02Z</dcterms:created>
  <dcterms:modified xsi:type="dcterms:W3CDTF">2026-10-28T12:02:02Z</dcterms:modified>
</cp:coreProperties>
</file>